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</p:sldIdLst>
  <p:sldSz cx="18288000" cy="10287000"/>
  <p:notesSz cx="6858000" cy="9144000"/>
  <p:embeddedFontLst>
    <p:embeddedFont>
      <p:font typeface="Helvetica World Bold" charset="1" panose="020B0800040000020004"/>
      <p:regular r:id="rId11"/>
    </p:embeddedFont>
    <p:embeddedFont>
      <p:font typeface="Helvetica World" charset="1" panose="020B0500040000020004"/>
      <p:regular r:id="rId12"/>
    </p:embeddedFont>
    <p:embeddedFont>
      <p:font typeface="Open Sans" charset="1" panose="020B0606030504020204"/>
      <p:regular r:id="rId13"/>
    </p:embeddedFont>
    <p:embeddedFont>
      <p:font typeface="Open Sans Italics" charset="1" panose="020B0606030504020204"/>
      <p:regular r:id="rId14"/>
    </p:embeddedFont>
    <p:embeddedFont>
      <p:font typeface="Open Sans Bold" charset="1" panose="020B0806030504020204"/>
      <p:regular r:id="rId15"/>
    </p:embeddedFont>
    <p:embeddedFont>
      <p:font typeface="Helvetica World Bold Italics" charset="1" panose="020B0800040000090004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fonts/font11.fntdata" Type="http://schemas.openxmlformats.org/officeDocument/2006/relationships/font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5.png" Type="http://schemas.openxmlformats.org/officeDocument/2006/relationships/image"/><Relationship Id="rId4" Target="../media/image6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890272" y="-659229"/>
            <a:ext cx="18685978" cy="18685978"/>
          </a:xfrm>
          <a:custGeom>
            <a:avLst/>
            <a:gdLst/>
            <a:ahLst/>
            <a:cxnLst/>
            <a:rect r="r" b="b" t="t" l="l"/>
            <a:pathLst>
              <a:path h="18685978" w="18685978">
                <a:moveTo>
                  <a:pt x="0" y="0"/>
                </a:moveTo>
                <a:lnTo>
                  <a:pt x="18685978" y="0"/>
                </a:lnTo>
                <a:lnTo>
                  <a:pt x="18685978" y="18685979"/>
                </a:lnTo>
                <a:lnTo>
                  <a:pt x="0" y="1868597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>
            <a:off x="1028958" y="6132517"/>
            <a:ext cx="3521777" cy="9894"/>
          </a:xfrm>
          <a:prstGeom prst="line">
            <a:avLst/>
          </a:prstGeom>
          <a:ln cap="flat" w="857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1254684" y="-247406"/>
            <a:ext cx="5957154" cy="10369861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1028700" y="2510992"/>
            <a:ext cx="8436949" cy="2234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7920"/>
              </a:lnSpc>
            </a:pPr>
            <a:r>
              <a:rPr lang="en-US" b="true" sz="7200">
                <a:solidFill>
                  <a:srgbClr val="F8B727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TO DO LIST COM</a:t>
            </a:r>
          </a:p>
          <a:p>
            <a:pPr algn="just">
              <a:lnSpc>
                <a:spcPts val="7920"/>
              </a:lnSpc>
            </a:pPr>
            <a:r>
              <a:rPr lang="en-US" b="true" sz="7200">
                <a:solidFill>
                  <a:srgbClr val="F8B727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FIREBASE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958" y="4657451"/>
            <a:ext cx="8274965" cy="10882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7634"/>
              </a:lnSpc>
            </a:pPr>
            <a:r>
              <a:rPr lang="en-US" b="true" sz="6940">
                <a:solidFill>
                  <a:srgbClr val="F8B727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AUTHENTICATION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76621" y="6720108"/>
            <a:ext cx="8827302" cy="8430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30"/>
              </a:lnSpc>
            </a:pPr>
            <a:r>
              <a:rPr lang="en-US" sz="3027">
                <a:solidFill>
                  <a:srgbClr val="F8B727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Carlos Eduardo Moreno Guerra | 12221BSI237</a:t>
            </a:r>
          </a:p>
          <a:p>
            <a:pPr algn="just">
              <a:lnSpc>
                <a:spcPts val="3330"/>
              </a:lnSpc>
            </a:pPr>
            <a:r>
              <a:rPr lang="en-US" sz="3027">
                <a:solidFill>
                  <a:srgbClr val="F8B727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Fellipe Pietro Rodrigues Gonçalves | 12221BSI241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-450374" y="735473"/>
            <a:ext cx="5703216" cy="9927822"/>
          </a:xfrm>
          <a:prstGeom prst="rect">
            <a:avLst/>
          </a:prstGeom>
        </p:spPr>
      </p:pic>
      <p:grpSp>
        <p:nvGrpSpPr>
          <p:cNvPr name="Group 4" id="4"/>
          <p:cNvGrpSpPr/>
          <p:nvPr/>
        </p:nvGrpSpPr>
        <p:grpSpPr>
          <a:xfrm rot="-10800000">
            <a:off x="4425524" y="4883980"/>
            <a:ext cx="1828509" cy="1505831"/>
            <a:chOff x="0" y="0"/>
            <a:chExt cx="647700" cy="533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47700" cy="533400"/>
            </a:xfrm>
            <a:custGeom>
              <a:avLst/>
              <a:gdLst/>
              <a:ahLst/>
              <a:cxnLst/>
              <a:rect r="r" b="b" t="t" l="l"/>
              <a:pathLst>
                <a:path h="533400" w="647700">
                  <a:moveTo>
                    <a:pt x="239386" y="166418"/>
                  </a:moveTo>
                  <a:lnTo>
                    <a:pt x="647700" y="166418"/>
                  </a:lnTo>
                  <a:lnTo>
                    <a:pt x="647700" y="366942"/>
                  </a:lnTo>
                  <a:lnTo>
                    <a:pt x="239373" y="366942"/>
                  </a:lnTo>
                  <a:lnTo>
                    <a:pt x="302255" y="533400"/>
                  </a:lnTo>
                  <a:lnTo>
                    <a:pt x="0" y="266700"/>
                  </a:lnTo>
                  <a:lnTo>
                    <a:pt x="302255" y="0"/>
                  </a:lnTo>
                  <a:lnTo>
                    <a:pt x="239386" y="166418"/>
                  </a:lnTo>
                  <a:close/>
                </a:path>
              </a:pathLst>
            </a:custGeom>
            <a:solidFill>
              <a:srgbClr val="F8B727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120650" y="193675"/>
              <a:ext cx="527050" cy="1746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40"/>
                </a:lnSpc>
              </a:pPr>
            </a:p>
          </p:txBody>
        </p:sp>
      </p:grpSp>
      <p:pic>
        <p:nvPicPr>
          <p:cNvPr name="Picture 7" id="7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5458191" y="1081708"/>
            <a:ext cx="5486233" cy="9550110"/>
          </a:xfrm>
          <a:prstGeom prst="rect">
            <a:avLst/>
          </a:prstGeom>
        </p:spPr>
      </p:pic>
      <p:sp>
        <p:nvSpPr>
          <p:cNvPr name="TextBox 8" id="8"/>
          <p:cNvSpPr txBox="true"/>
          <p:nvPr/>
        </p:nvSpPr>
        <p:spPr>
          <a:xfrm rot="0">
            <a:off x="140161" y="825182"/>
            <a:ext cx="4756709" cy="435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80"/>
              </a:lnSpc>
              <a:spcBef>
                <a:spcPct val="0"/>
              </a:spcBef>
            </a:pPr>
            <a:r>
              <a:rPr lang="en-US" b="true" sz="2800">
                <a:solidFill>
                  <a:srgbClr val="F8B727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TIVEMOS O TO DO LIST...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202494" y="876618"/>
            <a:ext cx="5997625" cy="384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49"/>
              </a:lnSpc>
              <a:spcBef>
                <a:spcPct val="0"/>
              </a:spcBef>
            </a:pPr>
            <a:r>
              <a:rPr lang="en-US" b="true" sz="2499">
                <a:solidFill>
                  <a:srgbClr val="F8B727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AGORA TEMOS  COM FIREBASE AUTH!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139238" y="4612005"/>
            <a:ext cx="9525" cy="1024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20"/>
              </a:lnSpc>
              <a:spcBef>
                <a:spcPct val="0"/>
              </a:spcBef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10589808" y="1839450"/>
            <a:ext cx="6482910" cy="1544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474986" indent="-237493" lvl="1">
              <a:lnSpc>
                <a:spcPts val="3080"/>
              </a:lnSpc>
              <a:buFont typeface="Arial"/>
              <a:buChar char="•"/>
            </a:pPr>
            <a:r>
              <a:rPr lang="en-US" sz="2200">
                <a:solidFill>
                  <a:srgbClr val="F8B727"/>
                </a:solidFill>
                <a:latin typeface="Open Sans"/>
                <a:ea typeface="Open Sans"/>
                <a:cs typeface="Open Sans"/>
                <a:sym typeface="Open Sans"/>
              </a:rPr>
              <a:t>Integração com google.properties</a:t>
            </a:r>
          </a:p>
          <a:p>
            <a:pPr algn="ctr" marL="474986" indent="-237493" lvl="1">
              <a:lnSpc>
                <a:spcPts val="3080"/>
              </a:lnSpc>
              <a:buFont typeface="Arial"/>
              <a:buChar char="•"/>
            </a:pPr>
            <a:r>
              <a:rPr lang="en-US" sz="2200">
                <a:solidFill>
                  <a:srgbClr val="F8B727"/>
                </a:solidFill>
                <a:latin typeface="Open Sans"/>
                <a:ea typeface="Open Sans"/>
                <a:cs typeface="Open Sans"/>
                <a:sym typeface="Open Sans"/>
              </a:rPr>
              <a:t>Mudanças de retenção de dados.</a:t>
            </a:r>
          </a:p>
          <a:p>
            <a:pPr algn="ctr" marL="474986" indent="-237493" lvl="1">
              <a:lnSpc>
                <a:spcPts val="3080"/>
              </a:lnSpc>
              <a:buFont typeface="Arial"/>
              <a:buChar char="•"/>
            </a:pPr>
            <a:r>
              <a:rPr lang="en-US" sz="2200">
                <a:solidFill>
                  <a:srgbClr val="F8B727"/>
                </a:solidFill>
                <a:latin typeface="Open Sans"/>
                <a:ea typeface="Open Sans"/>
                <a:cs typeface="Open Sans"/>
                <a:sym typeface="Open Sans"/>
              </a:rPr>
              <a:t>Remoção do DAO</a:t>
            </a:r>
          </a:p>
          <a:p>
            <a:pPr algn="ctr" marL="474986" indent="-237493" lvl="1">
              <a:lnSpc>
                <a:spcPts val="3080"/>
              </a:lnSpc>
              <a:buFont typeface="Arial"/>
              <a:buChar char="•"/>
            </a:pPr>
            <a:r>
              <a:rPr lang="en-US" sz="2200">
                <a:solidFill>
                  <a:srgbClr val="F8B727"/>
                </a:solidFill>
                <a:latin typeface="Open Sans"/>
                <a:ea typeface="Open Sans"/>
                <a:cs typeface="Open Sans"/>
                <a:sym typeface="Open Sans"/>
              </a:rPr>
              <a:t>Criação de Responses para conectar as telas.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053547" y="3637412"/>
            <a:ext cx="6019171" cy="6649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7"/>
              </a:lnSpc>
            </a:pPr>
          </a:p>
          <a:p>
            <a:pPr algn="l">
              <a:lnSpc>
                <a:spcPts val="1537"/>
              </a:lnSpc>
            </a:pPr>
            <a:r>
              <a:rPr lang="en-US" sz="1098">
                <a:solidFill>
                  <a:srgbClr val="C1FF72"/>
                </a:solidFill>
                <a:latin typeface="Open Sans"/>
                <a:ea typeface="Open Sans"/>
                <a:cs typeface="Open Sans"/>
                <a:sym typeface="Open Sans"/>
              </a:rPr>
              <a:t>class AuthViewModel @Inject constructor(</a:t>
            </a:r>
          </a:p>
          <a:p>
            <a:pPr algn="l">
              <a:lnSpc>
                <a:spcPts val="1537"/>
              </a:lnSpc>
            </a:pPr>
            <a:r>
              <a:rPr lang="en-US" sz="1098">
                <a:solidFill>
                  <a:srgbClr val="C1FF72"/>
                </a:solidFill>
                <a:latin typeface="Open Sans"/>
                <a:ea typeface="Open Sans"/>
                <a:cs typeface="Open Sans"/>
                <a:sym typeface="Open Sans"/>
              </a:rPr>
              <a:t>    private val repo: AuthRepository</a:t>
            </a:r>
          </a:p>
          <a:p>
            <a:pPr algn="l">
              <a:lnSpc>
                <a:spcPts val="1537"/>
              </a:lnSpc>
            </a:pPr>
            <a:r>
              <a:rPr lang="en-US" sz="1098">
                <a:solidFill>
                  <a:srgbClr val="C1FF72"/>
                </a:solidFill>
                <a:latin typeface="Open Sans"/>
                <a:ea typeface="Open Sans"/>
                <a:cs typeface="Open Sans"/>
                <a:sym typeface="Open Sans"/>
              </a:rPr>
              <a:t>) : ViewModel() {</a:t>
            </a:r>
          </a:p>
          <a:p>
            <a:pPr algn="l">
              <a:lnSpc>
                <a:spcPts val="1537"/>
              </a:lnSpc>
            </a:pPr>
          </a:p>
          <a:p>
            <a:pPr algn="l">
              <a:lnSpc>
                <a:spcPts val="1537"/>
              </a:lnSpc>
            </a:pPr>
            <a:r>
              <a:rPr lang="en-US" sz="1098">
                <a:solidFill>
                  <a:srgbClr val="C1FF72"/>
                </a:solidFill>
                <a:latin typeface="Open Sans"/>
                <a:ea typeface="Open Sans"/>
                <a:cs typeface="Open Sans"/>
                <a:sym typeface="Open Sans"/>
              </a:rPr>
              <a:t>    private val _authState = </a:t>
            </a:r>
            <a:r>
              <a:rPr lang="en-US" sz="1098" i="true">
                <a:solidFill>
                  <a:srgbClr val="C1FF72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MutableStateFlow</a:t>
            </a:r>
            <a:r>
              <a:rPr lang="en-US" sz="1098">
                <a:solidFill>
                  <a:srgbClr val="C1FF72"/>
                </a:solidFill>
                <a:latin typeface="Open Sans"/>
                <a:ea typeface="Open Sans"/>
                <a:cs typeface="Open Sans"/>
                <a:sym typeface="Open Sans"/>
              </a:rPr>
              <a:t>&lt;Response&lt;Boolean&gt;?&gt;(null)</a:t>
            </a:r>
          </a:p>
          <a:p>
            <a:pPr algn="l">
              <a:lnSpc>
                <a:spcPts val="1537"/>
              </a:lnSpc>
            </a:pPr>
            <a:r>
              <a:rPr lang="en-US" sz="1098">
                <a:solidFill>
                  <a:srgbClr val="C1FF72"/>
                </a:solidFill>
                <a:latin typeface="Open Sans"/>
                <a:ea typeface="Open Sans"/>
                <a:cs typeface="Open Sans"/>
                <a:sym typeface="Open Sans"/>
              </a:rPr>
              <a:t>    val authState: StateFlow&lt;Response&lt;Boolean&gt;?&gt; = _authState</a:t>
            </a:r>
          </a:p>
          <a:p>
            <a:pPr algn="l">
              <a:lnSpc>
                <a:spcPts val="1537"/>
              </a:lnSpc>
            </a:pPr>
          </a:p>
          <a:p>
            <a:pPr algn="l">
              <a:lnSpc>
                <a:spcPts val="1537"/>
              </a:lnSpc>
            </a:pPr>
            <a:r>
              <a:rPr lang="en-US" sz="1098">
                <a:solidFill>
                  <a:srgbClr val="C1FF72"/>
                </a:solidFill>
                <a:latin typeface="Open Sans"/>
                <a:ea typeface="Open Sans"/>
                <a:cs typeface="Open Sans"/>
                <a:sym typeface="Open Sans"/>
              </a:rPr>
              <a:t>    init {</a:t>
            </a:r>
          </a:p>
          <a:p>
            <a:pPr algn="l">
              <a:lnSpc>
                <a:spcPts val="1537"/>
              </a:lnSpc>
            </a:pPr>
            <a:r>
              <a:rPr lang="en-US" sz="1098">
                <a:solidFill>
                  <a:srgbClr val="C1FF72"/>
                </a:solidFill>
                <a:latin typeface="Open Sans"/>
                <a:ea typeface="Open Sans"/>
                <a:cs typeface="Open Sans"/>
                <a:sym typeface="Open Sans"/>
              </a:rPr>
              <a:t>        checkAuthStatus()</a:t>
            </a:r>
          </a:p>
          <a:p>
            <a:pPr algn="l">
              <a:lnSpc>
                <a:spcPts val="1537"/>
              </a:lnSpc>
            </a:pPr>
            <a:r>
              <a:rPr lang="en-US" sz="1098">
                <a:solidFill>
                  <a:srgbClr val="C1FF72"/>
                </a:solidFill>
                <a:latin typeface="Open Sans"/>
                <a:ea typeface="Open Sans"/>
                <a:cs typeface="Open Sans"/>
                <a:sym typeface="Open Sans"/>
              </a:rPr>
              <a:t>    }</a:t>
            </a:r>
          </a:p>
          <a:p>
            <a:pPr algn="l">
              <a:lnSpc>
                <a:spcPts val="1537"/>
              </a:lnSpc>
            </a:pPr>
          </a:p>
          <a:p>
            <a:pPr algn="l">
              <a:lnSpc>
                <a:spcPts val="1537"/>
              </a:lnSpc>
            </a:pPr>
            <a:r>
              <a:rPr lang="en-US" sz="1098">
                <a:solidFill>
                  <a:srgbClr val="C1FF72"/>
                </a:solidFill>
                <a:latin typeface="Open Sans"/>
                <a:ea typeface="Open Sans"/>
                <a:cs typeface="Open Sans"/>
                <a:sym typeface="Open Sans"/>
              </a:rPr>
              <a:t>    fun checkAuthStatus() {</a:t>
            </a:r>
          </a:p>
          <a:p>
            <a:pPr algn="l">
              <a:lnSpc>
                <a:spcPts val="1537"/>
              </a:lnSpc>
            </a:pPr>
            <a:r>
              <a:rPr lang="en-US" sz="1098">
                <a:solidFill>
                  <a:srgbClr val="C1FF72"/>
                </a:solidFill>
                <a:latin typeface="Open Sans"/>
                <a:ea typeface="Open Sans"/>
                <a:cs typeface="Open Sans"/>
                <a:sym typeface="Open Sans"/>
              </a:rPr>
              <a:t>        if (repo.currentUser != null) {</a:t>
            </a:r>
          </a:p>
          <a:p>
            <a:pPr algn="l">
              <a:lnSpc>
                <a:spcPts val="1537"/>
              </a:lnSpc>
            </a:pPr>
            <a:r>
              <a:rPr lang="en-US" sz="1098">
                <a:solidFill>
                  <a:srgbClr val="C1FF72"/>
                </a:solidFill>
                <a:latin typeface="Open Sans"/>
                <a:ea typeface="Open Sans"/>
                <a:cs typeface="Open Sans"/>
                <a:sym typeface="Open Sans"/>
              </a:rPr>
              <a:t>            _authState.value = Response.Success(true)</a:t>
            </a:r>
          </a:p>
          <a:p>
            <a:pPr algn="l">
              <a:lnSpc>
                <a:spcPts val="1537"/>
              </a:lnSpc>
            </a:pPr>
            <a:r>
              <a:rPr lang="en-US" sz="1098">
                <a:solidFill>
                  <a:srgbClr val="C1FF72"/>
                </a:solidFill>
                <a:latin typeface="Open Sans"/>
                <a:ea typeface="Open Sans"/>
                <a:cs typeface="Open Sans"/>
                <a:sym typeface="Open Sans"/>
              </a:rPr>
              <a:t>        }</a:t>
            </a:r>
          </a:p>
          <a:p>
            <a:pPr algn="l">
              <a:lnSpc>
                <a:spcPts val="1537"/>
              </a:lnSpc>
            </a:pPr>
            <a:r>
              <a:rPr lang="en-US" sz="1098">
                <a:solidFill>
                  <a:srgbClr val="C1FF72"/>
                </a:solidFill>
                <a:latin typeface="Open Sans"/>
                <a:ea typeface="Open Sans"/>
                <a:cs typeface="Open Sans"/>
                <a:sym typeface="Open Sans"/>
              </a:rPr>
              <a:t>    }</a:t>
            </a:r>
          </a:p>
          <a:p>
            <a:pPr algn="l">
              <a:lnSpc>
                <a:spcPts val="1537"/>
              </a:lnSpc>
            </a:pPr>
          </a:p>
          <a:p>
            <a:pPr algn="l">
              <a:lnSpc>
                <a:spcPts val="1537"/>
              </a:lnSpc>
            </a:pPr>
            <a:r>
              <a:rPr lang="en-US" sz="1098">
                <a:solidFill>
                  <a:srgbClr val="C1FF72"/>
                </a:solidFill>
                <a:latin typeface="Open Sans"/>
                <a:ea typeface="Open Sans"/>
                <a:cs typeface="Open Sans"/>
                <a:sym typeface="Open Sans"/>
              </a:rPr>
              <a:t>    fun login(email: String, pass: String) = </a:t>
            </a:r>
            <a:r>
              <a:rPr lang="en-US" sz="1098" i="true">
                <a:solidFill>
                  <a:srgbClr val="C1FF72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viewModelScope</a:t>
            </a:r>
            <a:r>
              <a:rPr lang="en-US" sz="1098">
                <a:solidFill>
                  <a:srgbClr val="C1FF72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r>
              <a:rPr lang="en-US" sz="1098" i="true">
                <a:solidFill>
                  <a:srgbClr val="C1FF72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launch </a:t>
            </a:r>
            <a:r>
              <a:rPr lang="en-US" sz="1098" b="true">
                <a:solidFill>
                  <a:srgbClr val="C1FF7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{</a:t>
            </a:r>
          </a:p>
          <a:p>
            <a:pPr algn="l">
              <a:lnSpc>
                <a:spcPts val="1537"/>
              </a:lnSpc>
            </a:pPr>
            <a:r>
              <a:rPr lang="en-US" sz="1098" b="true">
                <a:solidFill>
                  <a:srgbClr val="C1FF7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       </a:t>
            </a:r>
            <a:r>
              <a:rPr lang="en-US" sz="1098">
                <a:solidFill>
                  <a:srgbClr val="C1FF72"/>
                </a:solidFill>
                <a:latin typeface="Open Sans"/>
                <a:ea typeface="Open Sans"/>
                <a:cs typeface="Open Sans"/>
                <a:sym typeface="Open Sans"/>
              </a:rPr>
              <a:t>_authState.value = Response.Loading</a:t>
            </a:r>
          </a:p>
          <a:p>
            <a:pPr algn="l">
              <a:lnSpc>
                <a:spcPts val="1537"/>
              </a:lnSpc>
            </a:pPr>
            <a:r>
              <a:rPr lang="en-US" sz="1098">
                <a:solidFill>
                  <a:srgbClr val="C1FF72"/>
                </a:solidFill>
                <a:latin typeface="Open Sans"/>
                <a:ea typeface="Open Sans"/>
                <a:cs typeface="Open Sans"/>
                <a:sym typeface="Open Sans"/>
              </a:rPr>
              <a:t>        val result = repo.login(email, pass)</a:t>
            </a:r>
          </a:p>
          <a:p>
            <a:pPr algn="l">
              <a:lnSpc>
                <a:spcPts val="1537"/>
              </a:lnSpc>
            </a:pPr>
            <a:r>
              <a:rPr lang="en-US" sz="1098">
                <a:solidFill>
                  <a:srgbClr val="C1FF72"/>
                </a:solidFill>
                <a:latin typeface="Open Sans"/>
                <a:ea typeface="Open Sans"/>
                <a:cs typeface="Open Sans"/>
                <a:sym typeface="Open Sans"/>
              </a:rPr>
              <a:t>        _authState.value = result</a:t>
            </a:r>
          </a:p>
          <a:p>
            <a:pPr algn="l">
              <a:lnSpc>
                <a:spcPts val="1537"/>
              </a:lnSpc>
            </a:pPr>
            <a:r>
              <a:rPr lang="en-US" sz="1098">
                <a:solidFill>
                  <a:srgbClr val="C1FF72"/>
                </a:solidFill>
                <a:latin typeface="Open Sans"/>
                <a:ea typeface="Open Sans"/>
                <a:cs typeface="Open Sans"/>
                <a:sym typeface="Open Sans"/>
              </a:rPr>
              <a:t>    </a:t>
            </a:r>
            <a:r>
              <a:rPr lang="en-US" sz="1098" b="true">
                <a:solidFill>
                  <a:srgbClr val="C1FF7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}</a:t>
            </a:r>
          </a:p>
          <a:p>
            <a:pPr algn="l">
              <a:lnSpc>
                <a:spcPts val="1537"/>
              </a:lnSpc>
            </a:pPr>
          </a:p>
          <a:p>
            <a:pPr algn="l">
              <a:lnSpc>
                <a:spcPts val="1537"/>
              </a:lnSpc>
            </a:pPr>
            <a:r>
              <a:rPr lang="en-US" sz="1098" b="true">
                <a:solidFill>
                  <a:srgbClr val="C1FF7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   </a:t>
            </a:r>
            <a:r>
              <a:rPr lang="en-US" sz="1098">
                <a:solidFill>
                  <a:srgbClr val="C1FF72"/>
                </a:solidFill>
                <a:latin typeface="Open Sans"/>
                <a:ea typeface="Open Sans"/>
                <a:cs typeface="Open Sans"/>
                <a:sym typeface="Open Sans"/>
              </a:rPr>
              <a:t>fun signUp(email: String, pass: String) = </a:t>
            </a:r>
            <a:r>
              <a:rPr lang="en-US" sz="1098" i="true">
                <a:solidFill>
                  <a:srgbClr val="C1FF72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viewModelScope</a:t>
            </a:r>
            <a:r>
              <a:rPr lang="en-US" sz="1098">
                <a:solidFill>
                  <a:srgbClr val="C1FF72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r>
              <a:rPr lang="en-US" sz="1098" i="true">
                <a:solidFill>
                  <a:srgbClr val="C1FF72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launch </a:t>
            </a:r>
            <a:r>
              <a:rPr lang="en-US" sz="1098" b="true">
                <a:solidFill>
                  <a:srgbClr val="C1FF7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{</a:t>
            </a:r>
          </a:p>
          <a:p>
            <a:pPr algn="l">
              <a:lnSpc>
                <a:spcPts val="1537"/>
              </a:lnSpc>
            </a:pPr>
            <a:r>
              <a:rPr lang="en-US" sz="1098" b="true">
                <a:solidFill>
                  <a:srgbClr val="C1FF7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       </a:t>
            </a:r>
            <a:r>
              <a:rPr lang="en-US" sz="1098">
                <a:solidFill>
                  <a:srgbClr val="C1FF72"/>
                </a:solidFill>
                <a:latin typeface="Open Sans"/>
                <a:ea typeface="Open Sans"/>
                <a:cs typeface="Open Sans"/>
                <a:sym typeface="Open Sans"/>
              </a:rPr>
              <a:t>_authState.value = Response.Loading</a:t>
            </a:r>
          </a:p>
          <a:p>
            <a:pPr algn="l">
              <a:lnSpc>
                <a:spcPts val="1537"/>
              </a:lnSpc>
            </a:pPr>
            <a:r>
              <a:rPr lang="en-US" sz="1098">
                <a:solidFill>
                  <a:srgbClr val="C1FF72"/>
                </a:solidFill>
                <a:latin typeface="Open Sans"/>
                <a:ea typeface="Open Sans"/>
                <a:cs typeface="Open Sans"/>
                <a:sym typeface="Open Sans"/>
              </a:rPr>
              <a:t>        val result = repo.signUp(email, pass)</a:t>
            </a:r>
          </a:p>
          <a:p>
            <a:pPr algn="l">
              <a:lnSpc>
                <a:spcPts val="1537"/>
              </a:lnSpc>
            </a:pPr>
            <a:r>
              <a:rPr lang="en-US" sz="1098">
                <a:solidFill>
                  <a:srgbClr val="C1FF72"/>
                </a:solidFill>
                <a:latin typeface="Open Sans"/>
                <a:ea typeface="Open Sans"/>
                <a:cs typeface="Open Sans"/>
                <a:sym typeface="Open Sans"/>
              </a:rPr>
              <a:t>        _authState.value = result</a:t>
            </a:r>
          </a:p>
          <a:p>
            <a:pPr algn="l">
              <a:lnSpc>
                <a:spcPts val="1537"/>
              </a:lnSpc>
            </a:pPr>
            <a:r>
              <a:rPr lang="en-US" sz="1098">
                <a:solidFill>
                  <a:srgbClr val="C1FF72"/>
                </a:solidFill>
                <a:latin typeface="Open Sans"/>
                <a:ea typeface="Open Sans"/>
                <a:cs typeface="Open Sans"/>
                <a:sym typeface="Open Sans"/>
              </a:rPr>
              <a:t>    </a:t>
            </a:r>
            <a:r>
              <a:rPr lang="en-US" sz="1098" b="true">
                <a:solidFill>
                  <a:srgbClr val="C1FF7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}</a:t>
            </a:r>
          </a:p>
          <a:p>
            <a:pPr algn="l">
              <a:lnSpc>
                <a:spcPts val="1537"/>
              </a:lnSpc>
            </a:pPr>
          </a:p>
          <a:p>
            <a:pPr algn="l">
              <a:lnSpc>
                <a:spcPts val="1537"/>
              </a:lnSpc>
            </a:pPr>
            <a:r>
              <a:rPr lang="en-US" sz="1098" b="true">
                <a:solidFill>
                  <a:srgbClr val="C1FF7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   </a:t>
            </a:r>
            <a:r>
              <a:rPr lang="en-US" sz="1098">
                <a:solidFill>
                  <a:srgbClr val="C1FF72"/>
                </a:solidFill>
                <a:latin typeface="Open Sans"/>
                <a:ea typeface="Open Sans"/>
                <a:cs typeface="Open Sans"/>
                <a:sym typeface="Open Sans"/>
              </a:rPr>
              <a:t>fun signOut() {</a:t>
            </a:r>
          </a:p>
          <a:p>
            <a:pPr algn="l">
              <a:lnSpc>
                <a:spcPts val="1537"/>
              </a:lnSpc>
            </a:pPr>
            <a:r>
              <a:rPr lang="en-US" sz="1098">
                <a:solidFill>
                  <a:srgbClr val="C1FF72"/>
                </a:solidFill>
                <a:latin typeface="Open Sans"/>
                <a:ea typeface="Open Sans"/>
                <a:cs typeface="Open Sans"/>
                <a:sym typeface="Open Sans"/>
              </a:rPr>
              <a:t>        repo.signOut()</a:t>
            </a:r>
          </a:p>
          <a:p>
            <a:pPr algn="l">
              <a:lnSpc>
                <a:spcPts val="1537"/>
              </a:lnSpc>
            </a:pPr>
            <a:r>
              <a:rPr lang="en-US" sz="1098">
                <a:solidFill>
                  <a:srgbClr val="C1FF72"/>
                </a:solidFill>
                <a:latin typeface="Open Sans"/>
                <a:ea typeface="Open Sans"/>
                <a:cs typeface="Open Sans"/>
                <a:sym typeface="Open Sans"/>
              </a:rPr>
              <a:t>        _authState.value = null</a:t>
            </a:r>
          </a:p>
          <a:p>
            <a:pPr algn="l">
              <a:lnSpc>
                <a:spcPts val="1537"/>
              </a:lnSpc>
            </a:pPr>
            <a:r>
              <a:rPr lang="en-US" sz="1098">
                <a:solidFill>
                  <a:srgbClr val="C1FF72"/>
                </a:solidFill>
                <a:latin typeface="Open Sans"/>
                <a:ea typeface="Open Sans"/>
                <a:cs typeface="Open Sans"/>
                <a:sym typeface="Open Sans"/>
              </a:rPr>
              <a:t>    }</a:t>
            </a:r>
          </a:p>
          <a:p>
            <a:pPr algn="l">
              <a:lnSpc>
                <a:spcPts val="1486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330707" y="406401"/>
            <a:ext cx="7311033" cy="6222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99"/>
              </a:lnSpc>
              <a:spcBef>
                <a:spcPct val="0"/>
              </a:spcBef>
            </a:pPr>
            <a:r>
              <a:rPr lang="en-US" b="true" sz="3999">
                <a:solidFill>
                  <a:srgbClr val="FF5757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PROBLEMAS ENCONTRADOS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87151" y="1078865"/>
            <a:ext cx="6603561" cy="3509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 b="true">
                <a:solidFill>
                  <a:srgbClr val="FF914D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Diversos problemas de integridade</a:t>
            </a:r>
          </a:p>
          <a:p>
            <a:pPr algn="ctr">
              <a:lnSpc>
                <a:spcPts val="3359"/>
              </a:lnSpc>
            </a:pPr>
            <a:r>
              <a:rPr lang="en-US" sz="2400" b="true">
                <a:solidFill>
                  <a:srgbClr val="FF914D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Diversos problemas em integridades de bibliotecas. Durante boa parte do desenvolvimento o Gradle teve que passar por diversas atualizações em vários pontos.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785695" y="1297940"/>
            <a:ext cx="7230932" cy="3081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b="true">
                <a:solidFill>
                  <a:srgbClr val="FF914D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Problemas na autenticação e run do Firebase</a:t>
            </a:r>
          </a:p>
          <a:p>
            <a:pPr algn="ctr">
              <a:lnSpc>
                <a:spcPts val="3359"/>
              </a:lnSpc>
            </a:pPr>
            <a:r>
              <a:rPr lang="en-US" sz="2400" b="true">
                <a:solidFill>
                  <a:srgbClr val="FF914D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Tivemos que mudar constantemente o nosso google.properties, integrar com o ToDoList e ter a Login screen funcional também. </a:t>
            </a:r>
          </a:p>
          <a:p>
            <a:pPr algn="ctr">
              <a:lnSpc>
                <a:spcPts val="3359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4741178" y="4969510"/>
            <a:ext cx="8805644" cy="2707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99"/>
              </a:lnSpc>
            </a:pPr>
            <a:r>
              <a:rPr lang="en-US" sz="3999" b="true">
                <a:solidFill>
                  <a:srgbClr val="FF914D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Fechamentos constantes em fase de teste</a:t>
            </a:r>
          </a:p>
          <a:p>
            <a:pPr algn="ctr">
              <a:lnSpc>
                <a:spcPts val="2640"/>
              </a:lnSpc>
              <a:spcBef>
                <a:spcPct val="0"/>
              </a:spcBef>
            </a:pPr>
            <a:r>
              <a:rPr lang="en-US" b="true" sz="2400">
                <a:solidFill>
                  <a:srgbClr val="FF914D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Durante a fase de teste tivemos diversos erros de que a aplicação aparentava rodar e diversos erros relacionados a chamadas sem callback ou referência foram aparecendo, especialmente na listagem e interfacel.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447133" y="406401"/>
            <a:ext cx="9393734" cy="6222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99"/>
              </a:lnSpc>
              <a:spcBef>
                <a:spcPct val="0"/>
              </a:spcBef>
            </a:pPr>
            <a:r>
              <a:rPr lang="en-US" b="true" sz="3999">
                <a:solidFill>
                  <a:srgbClr val="FF914D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LLMS, VANTAGENS E DESVANTAGENS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1609492"/>
            <a:ext cx="15713092" cy="5599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98"/>
              </a:lnSpc>
            </a:pPr>
            <a:r>
              <a:rPr lang="en-US" sz="3089" b="true">
                <a:solidFill>
                  <a:srgbClr val="FF914D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LLMS usadas: Gemini</a:t>
            </a:r>
          </a:p>
          <a:p>
            <a:pPr algn="ctr">
              <a:lnSpc>
                <a:spcPts val="2960"/>
              </a:lnSpc>
            </a:pPr>
          </a:p>
          <a:p>
            <a:pPr algn="ctr">
              <a:lnSpc>
                <a:spcPts val="2080"/>
              </a:lnSpc>
            </a:pPr>
            <a:r>
              <a:rPr lang="en-US" sz="1891" b="true">
                <a:solidFill>
                  <a:srgbClr val="AFC0F3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Gemini:</a:t>
            </a:r>
          </a:p>
          <a:p>
            <a:pPr algn="ctr">
              <a:lnSpc>
                <a:spcPts val="2080"/>
              </a:lnSpc>
            </a:pPr>
            <a:r>
              <a:rPr lang="en-US" sz="1891" b="true">
                <a:solidFill>
                  <a:srgbClr val="AFC0F3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Criação do AuthView</a:t>
            </a:r>
          </a:p>
          <a:p>
            <a:pPr algn="ctr">
              <a:lnSpc>
                <a:spcPts val="2080"/>
              </a:lnSpc>
            </a:pPr>
            <a:r>
              <a:rPr lang="en-US" b="true" sz="1891" i="true">
                <a:solidFill>
                  <a:srgbClr val="AFC0F3"/>
                </a:solidFill>
                <a:latin typeface="Helvetica World Bold Italics"/>
                <a:ea typeface="Helvetica World Bold Italics"/>
                <a:cs typeface="Helvetica World Bold Italics"/>
                <a:sym typeface="Helvetica World Bold Italics"/>
              </a:rPr>
              <a:t>O AuthViewModel é muito importante em momentos assim para administrar o controle do hilt e as autenticações da tela,</a:t>
            </a:r>
          </a:p>
          <a:p>
            <a:pPr algn="ctr">
              <a:lnSpc>
                <a:spcPts val="2080"/>
              </a:lnSpc>
            </a:pPr>
            <a:r>
              <a:rPr lang="en-US" b="true" sz="1891" i="true">
                <a:solidFill>
                  <a:srgbClr val="AFC0F3"/>
                </a:solidFill>
                <a:latin typeface="Helvetica World Bold Italics"/>
                <a:ea typeface="Helvetica World Bold Italics"/>
                <a:cs typeface="Helvetica World Bold Italics"/>
                <a:sym typeface="Helvetica World Bold Italics"/>
              </a:rPr>
              <a:t>* garanta que tenha as anotações com @HiltViewModel que injeta o AuthRepository.</a:t>
            </a:r>
          </a:p>
          <a:p>
            <a:pPr algn="ctr">
              <a:lnSpc>
                <a:spcPts val="2080"/>
              </a:lnSpc>
            </a:pPr>
            <a:r>
              <a:rPr lang="en-US" b="true" sz="1891" i="true">
                <a:solidFill>
                  <a:srgbClr val="AFC0F3"/>
                </a:solidFill>
                <a:latin typeface="Helvetica World Bold Italics"/>
                <a:ea typeface="Helvetica World Bold Italics"/>
                <a:cs typeface="Helvetica World Bold Italics"/>
                <a:sym typeface="Helvetica World Bold Italics"/>
              </a:rPr>
              <a:t>* Crie um StateFlow _authState para gerenciar o estado do login (Loading, Success, Error).</a:t>
            </a:r>
          </a:p>
          <a:p>
            <a:pPr algn="ctr">
              <a:lnSpc>
                <a:spcPts val="2080"/>
              </a:lnSpc>
            </a:pPr>
            <a:r>
              <a:rPr lang="en-US" b="true" sz="1891" i="true">
                <a:solidFill>
                  <a:srgbClr val="AFC0F3"/>
                </a:solidFill>
                <a:latin typeface="Helvetica World Bold Italics"/>
                <a:ea typeface="Helvetica World Bold Italics"/>
                <a:cs typeface="Helvetica World Bold Italics"/>
                <a:sym typeface="Helvetica World Bold Italics"/>
              </a:rPr>
              <a:t>* Implemente as funções de login e signUp que chamam o repositório dentro do viewModelScope e atualizam o estado.</a:t>
            </a:r>
          </a:p>
          <a:p>
            <a:pPr algn="ctr">
              <a:lnSpc>
                <a:spcPts val="2080"/>
              </a:lnSpc>
            </a:pPr>
            <a:r>
              <a:rPr lang="en-US" b="true" sz="1891" i="true">
                <a:solidFill>
                  <a:srgbClr val="AFC0F3"/>
                </a:solidFill>
                <a:latin typeface="Helvetica World Bold Italics"/>
                <a:ea typeface="Helvetica World Bold Italics"/>
                <a:cs typeface="Helvetica World Bold Italics"/>
                <a:sym typeface="Helvetica World Bold Italics"/>
              </a:rPr>
              <a:t>* Crie uma função checkAuthStatus para verificar se o usuário já está logado ao abrir o app.</a:t>
            </a:r>
          </a:p>
          <a:p>
            <a:pPr algn="ctr">
              <a:lnSpc>
                <a:spcPts val="2960"/>
              </a:lnSpc>
            </a:pPr>
          </a:p>
          <a:p>
            <a:pPr algn="ctr">
              <a:lnSpc>
                <a:spcPts val="2960"/>
              </a:lnSpc>
            </a:pPr>
            <a:r>
              <a:rPr lang="en-US" sz="2691" b="true">
                <a:solidFill>
                  <a:srgbClr val="C1FF72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Desvantagens:</a:t>
            </a:r>
          </a:p>
          <a:p>
            <a:pPr algn="ctr">
              <a:lnSpc>
                <a:spcPts val="2960"/>
              </a:lnSpc>
            </a:pPr>
          </a:p>
          <a:p>
            <a:pPr algn="ctr">
              <a:lnSpc>
                <a:spcPts val="2960"/>
              </a:lnSpc>
            </a:pPr>
            <a:r>
              <a:rPr lang="en-US" sz="2691" b="true">
                <a:solidFill>
                  <a:srgbClr val="C1FF72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-Problemas com bibliotecas como Hilt e KSP, além de em diversos cenários não é recomendada para bug Search.</a:t>
            </a:r>
          </a:p>
          <a:p>
            <a:pPr algn="ctr">
              <a:lnSpc>
                <a:spcPts val="2960"/>
              </a:lnSpc>
            </a:pPr>
          </a:p>
          <a:p>
            <a:pPr algn="ctr">
              <a:lnSpc>
                <a:spcPts val="2960"/>
              </a:lnSpc>
              <a:spcBef>
                <a:spcPct val="0"/>
              </a:spcBef>
            </a:pPr>
            <a:r>
              <a:rPr lang="en-US" b="true" sz="2691">
                <a:solidFill>
                  <a:srgbClr val="C1FF72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-Diversas dependências desatualizadas mesmo utilizando modelos ou MCPs focados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284416" y="4274503"/>
            <a:ext cx="5719167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Obrigado!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DAHA27FEots</dc:identifier>
  <dcterms:modified xsi:type="dcterms:W3CDTF">2011-08-01T06:04:30Z</dcterms:modified>
  <cp:revision>1</cp:revision>
  <dc:title>Firebase</dc:title>
</cp:coreProperties>
</file>